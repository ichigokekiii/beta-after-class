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980000">
            <a:off x="8138160" y="-411480"/>
            <a:ext cx="4800600" cy="4800600"/>
          </a:xfrm>
          <a:prstGeom prst="arc">
            <a:avLst/>
          </a:prstGeom>
          <a:noFill/>
          <a:ln w="127000">
            <a:solidFill>
              <a:srgbClr val="5F8651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829800" y="4425696"/>
            <a:ext cx="1828800" cy="1828800"/>
          </a:xfrm>
          <a:prstGeom prst="ellipse">
            <a:avLst/>
          </a:prstGeom>
          <a:solidFill>
            <a:srgbClr val="5F8651">
              <a:alpha val="92000"/>
            </a:srgbClr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5F8651"/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67665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&amp; PARTNERSHIP DECK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667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EF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AfterClass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21792" y="222199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E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college connections happen in real life.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21792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7D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school-verified dating app that turns mutual intent into real-world coffee dates.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5120640"/>
            <a:ext cx="4069080" cy="768096"/>
          </a:xfrm>
          <a:prstGeom prst="roundRect">
            <a:avLst>
              <a:gd name="adj" fmla="val 19048"/>
            </a:avLst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3400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MEETING AFTERCLASS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32520" y="868680"/>
            <a:ext cx="2057400" cy="1645920"/>
          </a:xfrm>
          <a:prstGeom prst="roundRect">
            <a:avLst>
              <a:gd name="adj" fmla="val 8889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pic>
        <p:nvPicPr>
          <p:cNvPr id="12" name="Image 0" descr="C:/Users/sethb/AppData/Local/Temp/codex-clipboard-c56e53bb-a295-4f62-9789-fac419c30a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4" y="950976"/>
            <a:ext cx="1856232" cy="14447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778240" y="292608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AD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 METRO MANILA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03920" y="3227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1,000+ active students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01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DISCONNECT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Dating apps keep students online — and disconnected.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is low, chats go nowhere, and campus communities remain siloed.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401568" cy="2377440"/>
          </a:xfrm>
          <a:prstGeom prst="roundRect">
            <a:avLst>
              <a:gd name="adj" fmla="val 6154"/>
            </a:avLst>
          </a:prstGeom>
          <a:solidFill>
            <a:srgbClr val="E8D8CA"/>
          </a:solidFill>
          <a:ln w="12700">
            <a:solidFill>
              <a:srgbClr val="E8D8C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48716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50392" y="31272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Gen Z report feeling socially disconnected despite heavy social media use.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98264" y="2148840"/>
            <a:ext cx="3401568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48716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TRUST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31272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dating apps leave students exposed to unverified profiles and safety concerns.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02168" y="2148840"/>
            <a:ext cx="3401568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48716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MOMENTUM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8200" y="31272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Endless chats rarely become real meetings; ghosting becomes the default.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" y="5074920"/>
            <a:ext cx="11000232" cy="621792"/>
          </a:xfrm>
          <a:prstGeom prst="roundRect">
            <a:avLst>
              <a:gd name="adj" fmla="val 23529"/>
            </a:avLst>
          </a:prstGeom>
          <a:solidFill>
            <a:srgbClr val="2E2E2E"/>
          </a:solidFill>
          <a:ln w="12700">
            <a:solidFill>
              <a:srgbClr val="2E2E2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276088"/>
            <a:ext cx="10378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 students have no safe, structured way to meet peers beyond their own campus.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D0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EF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match is not the finish line. It is the start of a real meeting.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7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makes every interaction deliberate, verified and venue-connected.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240280"/>
            <a:ext cx="3090672" cy="2176272"/>
          </a:xfrm>
          <a:prstGeom prst="roundRect">
            <a:avLst>
              <a:gd name="adj" fmla="val 6723"/>
            </a:avLst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2990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9264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7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email or student 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31272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9704" y="2240280"/>
            <a:ext cx="3090672" cy="2176272"/>
          </a:xfrm>
          <a:prstGeom prst="roundRect">
            <a:avLst>
              <a:gd name="adj" fmla="val 6723"/>
            </a:avLst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5736" y="2990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45736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7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and confirm intent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62672" y="31272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66176" y="2240280"/>
            <a:ext cx="3090672" cy="2176272"/>
          </a:xfrm>
          <a:prstGeom prst="roundRect">
            <a:avLst>
              <a:gd name="adj" fmla="val 6723"/>
            </a:avLst>
          </a:prstGeom>
          <a:solidFill>
            <a:srgbClr val="5F8651"/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22208" y="2990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22208" y="3493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7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nearby AfterClass Spot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5230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chat. No catfishing. No ambiguity.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for confidence before, during and after the first date.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product loop built for college life.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21792" y="2084832"/>
            <a:ext cx="5184648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450592"/>
            <a:ext cx="475488" cy="475488"/>
          </a:xfrm>
          <a:prstGeom prst="ellipse">
            <a:avLst/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48716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access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2768" y="27066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ID or school email keeps the community college-only.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2084832"/>
            <a:ext cx="5184648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2450592"/>
            <a:ext cx="475488" cy="475488"/>
          </a:xfrm>
          <a:prstGeom prst="ellipse">
            <a:avLst/>
          </a:prstGeom>
          <a:solidFill>
            <a:srgbClr val="5F8651"/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48716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96328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Mutual confirmation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96328" y="27066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people opt in before a venue is surfaced.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3730752"/>
            <a:ext cx="5184648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4096512"/>
            <a:ext cx="475488" cy="475488"/>
          </a:xfrm>
          <a:prstGeom prst="ellipse">
            <a:avLst/>
          </a:prstGeom>
          <a:solidFill>
            <a:srgbClr val="5F8651"/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13308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2768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discovery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72768" y="435254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cafés appear as the natural place to meet.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5352" y="3730752"/>
            <a:ext cx="5184648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4096512"/>
            <a:ext cx="475488" cy="475488"/>
          </a:xfrm>
          <a:prstGeom prst="ellipse">
            <a:avLst/>
          </a:prstGeom>
          <a:solidFill>
            <a:srgbClr val="5F8651"/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413308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96328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96328" y="435254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Post-meet ratings reinforce safety and good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TWO-SIDED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AfterClass creates a better date — and qualified café foot traffic.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partner café is infrastructure, not an afterthought.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2066544"/>
            <a:ext cx="5212080" cy="3346704"/>
          </a:xfrm>
          <a:prstGeom prst="roundRect">
            <a:avLst>
              <a:gd name="adj" fmla="val 4372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957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STUDENTS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816352"/>
            <a:ext cx="4343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safer way to meet people who are actually ready to meet.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60120" y="39776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peers · clear intent · an easy first-date destination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7648" y="2066544"/>
            <a:ext cx="5212080" cy="3346704"/>
          </a:xfrm>
          <a:prstGeom prst="roundRect">
            <a:avLst>
              <a:gd name="adj" fmla="val 4372"/>
            </a:avLst>
          </a:prstGeom>
          <a:solidFill>
            <a:srgbClr val="2E2E2E"/>
          </a:solidFill>
          <a:ln w="12700">
            <a:solidFill>
              <a:srgbClr val="2E2E2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395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D2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CAFÉ PARTNERS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2816352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direct pipeline to verified, active college students.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629400" y="39776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FD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In-app discovery · premium placement · co-marketing reach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347472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product. Organic demand. Ready for partner density.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is already earning the hardest currency: real student engagement.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12648" y="2057400"/>
            <a:ext cx="3383280" cy="1042416"/>
          </a:xfrm>
          <a:prstGeom prst="roundRect">
            <a:avLst>
              <a:gd name="adj" fmla="val 14035"/>
            </a:avLst>
          </a:prstGeom>
          <a:solidFill>
            <a:srgbClr val="E8D8CA"/>
          </a:solidFill>
          <a:ln w="12700">
            <a:solidFill>
              <a:srgbClr val="E8D8C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21284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1,000+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13816" y="267919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college 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07408" y="2057400"/>
            <a:ext cx="3383280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21284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608576" y="267919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paid-ad spend to date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02168" y="2057400"/>
            <a:ext cx="3383280" cy="1042416"/>
          </a:xfrm>
          <a:prstGeom prst="roundRect">
            <a:avLst>
              <a:gd name="adj" fmla="val 14035"/>
            </a:avLst>
          </a:prstGeom>
          <a:solidFill>
            <a:srgbClr val="DCE7D6"/>
          </a:solidFill>
          <a:ln w="12700">
            <a:solidFill>
              <a:srgbClr val="DCE7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221284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403336" y="267919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Metro Manila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475488" cy="475488"/>
          </a:xfrm>
          <a:prstGeom prst="ellipse">
            <a:avLst/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6849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9888" y="397764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Multi-school coverage across NCR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4370832"/>
            <a:ext cx="475488" cy="475488"/>
          </a:xfrm>
          <a:prstGeom prst="ellipse">
            <a:avLst/>
          </a:prstGeom>
          <a:solidFill>
            <a:srgbClr val="5F8651"/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40740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89888" y="4416552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matches and meetups already happening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809744"/>
            <a:ext cx="475488" cy="475488"/>
          </a:xfrm>
          <a:prstGeom prst="ellipse">
            <a:avLst/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84632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89888" y="485546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Word-of-mouth growth from embedded campus communities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5248656"/>
            <a:ext cx="475488" cy="475488"/>
          </a:xfrm>
          <a:prstGeom prst="ellipse">
            <a:avLst/>
          </a:prstGeom>
          <a:solidFill>
            <a:srgbClr val="5F8651"/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8523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89888" y="5294376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outreach in key student districts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D0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EF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in the densest student market. Expand by campus network.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7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wedge into a large, highly mobile Gen Z audience.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2121408"/>
            <a:ext cx="3474720" cy="1042416"/>
          </a:xfrm>
          <a:prstGeom prst="roundRect">
            <a:avLst>
              <a:gd name="adj" fmla="val 14035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7685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59536" y="274320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 students in the Philippines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61688" y="2121408"/>
            <a:ext cx="3474720" cy="1042416"/>
          </a:xfrm>
          <a:prstGeom prst="roundRect">
            <a:avLst>
              <a:gd name="adj" fmla="val 14035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27685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562856" y="274320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 coffee-shop industry CAGR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65008" y="2121408"/>
            <a:ext cx="3474720" cy="1042416"/>
          </a:xfrm>
          <a:prstGeom prst="roundRect">
            <a:avLst>
              <a:gd name="adj" fmla="val 14035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227685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NCR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266176" y="2743200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dense university network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334256"/>
            <a:ext cx="10744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 → Cebu, Davao, Iloilo → Nationwide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389888" y="491947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FD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mobile-app adoption and concentrated campuses make city-by-city expansion operationally repeatable.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Monetize both attention and conversion — without compromising trust.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Indicative pricing; final terms are designed per café partner.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03504" y="2139696"/>
            <a:ext cx="3419856" cy="2834640"/>
          </a:xfrm>
          <a:prstGeom prst="roundRect">
            <a:avLst>
              <a:gd name="adj" fmla="val 5161"/>
            </a:avLst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48716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PREMIUM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9536" y="2971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₱99–₱199 / month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9536" y="370332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0E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Unlimited matches, profile boosts and priority café suggestions.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43984" y="2139696"/>
            <a:ext cx="3419856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48716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LISTING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0016" y="2971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placement fee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0016" y="370332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presence as an AfterClass Spot.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2139696"/>
            <a:ext cx="3419856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248716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FEATURED &amp; EVENTS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40496" y="2971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/ future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0496" y="370332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placement, sponsored activations and first-date packages.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D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AFTERCLASS WINS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Purpose-built for the moment global dating apps ignore.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moat is the combination of verification, venue and local community.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2029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90288" y="20299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4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27648" y="20299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TINDER / BUMBLE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65008" y="20299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HINGE / OKCUPID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02368" y="20299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EVENTS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487168"/>
            <a:ext cx="10927080" cy="502920"/>
          </a:xfrm>
          <a:prstGeom prst="roundRect">
            <a:avLst>
              <a:gd name="adj" fmla="val 29091"/>
            </a:avLst>
          </a:prstGeom>
          <a:solidFill>
            <a:srgbClr val="F8F1DF"/>
          </a:solidFill>
          <a:ln w="12700">
            <a:solidFill>
              <a:srgbClr val="F8F1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633472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College-verified identity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84064" y="2569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21424" y="2569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58784" y="2569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96144" y="2569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145536"/>
            <a:ext cx="10927080" cy="502920"/>
          </a:xfrm>
          <a:prstGeom prst="roundRect">
            <a:avLst>
              <a:gd name="adj" fmla="val 29091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29184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No-chat, meet-first mechanic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84064" y="3227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21424" y="3227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58784" y="3227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96144" y="32278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3803904"/>
            <a:ext cx="10927080" cy="502920"/>
          </a:xfrm>
          <a:prstGeom prst="roundRect">
            <a:avLst>
              <a:gd name="adj" fmla="val 29091"/>
            </a:avLst>
          </a:prstGeom>
          <a:solidFill>
            <a:srgbClr val="F8F1DF"/>
          </a:solidFill>
          <a:ln w="12700">
            <a:solidFill>
              <a:srgbClr val="F8F1D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95020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café integration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84064" y="3886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21424" y="3886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58784" y="3886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96144" y="3886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4462272"/>
            <a:ext cx="10927080" cy="502920"/>
          </a:xfrm>
          <a:prstGeom prst="roundRect">
            <a:avLst>
              <a:gd name="adj" fmla="val 29091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60857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PH campus culture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4544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21424" y="4544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58784" y="4544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96144" y="4544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B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F8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D0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PARTNER OFFER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EF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Become an AfterClass Spot.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7E1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founding-partner slots across Metro Manila.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4919472" cy="3401568"/>
          </a:xfrm>
          <a:prstGeom prst="roundRect">
            <a:avLst>
              <a:gd name="adj" fmla="val 4301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450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PARTNERS 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2944368"/>
            <a:ext cx="475488" cy="475488"/>
          </a:xfrm>
          <a:prstGeom prst="ellipse">
            <a:avLst/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80944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27632" y="305409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Guaranteed student foot traffic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429000"/>
            <a:ext cx="475488" cy="475488"/>
          </a:xfrm>
          <a:prstGeom prst="ellipse">
            <a:avLst/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65576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27632" y="353872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Featured in-app discovery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3913632"/>
            <a:ext cx="475488" cy="475488"/>
          </a:xfrm>
          <a:prstGeom prst="ellipse">
            <a:avLst/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5020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27632" y="40233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Spot digital + physical branding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398264"/>
            <a:ext cx="475488" cy="475488"/>
          </a:xfrm>
          <a:prstGeom prst="ellipse">
            <a:avLst/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43484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27632" y="45079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co-marketing exposure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2057400"/>
            <a:ext cx="5532120" cy="3401568"/>
          </a:xfrm>
          <a:prstGeom prst="roundRect">
            <a:avLst>
              <a:gd name="adj" fmla="val 4301"/>
            </a:avLst>
          </a:prstGeom>
          <a:solidFill>
            <a:srgbClr val="2E2E2E"/>
          </a:solidFill>
          <a:ln w="12700">
            <a:solidFill>
              <a:srgbClr val="2E2E2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450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D2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TERMS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9718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₱0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18120" y="29992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DA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upfront joining cost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630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months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18120" y="3657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DA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partner trial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288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18120" y="43159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DA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locked-in rates before scale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97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café density. Prove repeatability. Expand the network.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that turn a local social behavior into a national platform.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2487168" cy="2176272"/>
          </a:xfrm>
          <a:prstGeom prst="roundRect">
            <a:avLst>
              <a:gd name="adj" fmla="val 6723"/>
            </a:avLst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816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 Metro Manila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1,000+ users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outreach active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35808" y="33649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56432" y="2468880"/>
            <a:ext cx="2487168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816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MONTHS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75888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founding cafés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NCR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97880" y="33649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18504" y="2468880"/>
            <a:ext cx="2487168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816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MONTHS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Cebu + Davao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subscription launch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59952" y="33649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80576" y="2468880"/>
            <a:ext cx="2487168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2816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8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MONTHS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00032" y="33101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50+ partner cafés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campus events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69848" y="52303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0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term: selective Southeast Asia expansion through Philippine diaspora student markets.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5F8651"/>
          </a:solidFill>
          <a:ln w="12700">
            <a:solidFill>
              <a:srgbClr val="5F86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7665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LET’S MAKE THE FIRST DATE EASY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307592"/>
            <a:ext cx="6720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EF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meeting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FEF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AfterClass.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85800" y="307238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3DC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seeking founding café partners and campus-growth allies.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4005072"/>
            <a:ext cx="5349240" cy="1143000"/>
          </a:xfrm>
          <a:prstGeom prst="roundRect">
            <a:avLst>
              <a:gd name="adj" fmla="val 12800"/>
            </a:avLst>
          </a:prstGeom>
          <a:solidFill>
            <a:srgbClr val="6E4E37"/>
          </a:solidFill>
          <a:ln w="12700">
            <a:solidFill>
              <a:srgbClr val="6E4E3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428853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CONSTANTINE ACUESTA  ·  jc@nextdecade.ph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46268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EF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SETH BERNARD PLANCO  ·  seth@nextdecade.ph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30768" y="950976"/>
            <a:ext cx="2240280" cy="1783080"/>
          </a:xfrm>
          <a:prstGeom prst="roundRect">
            <a:avLst>
              <a:gd name="adj" fmla="val 8205"/>
            </a:avLst>
          </a:prstGeom>
          <a:solidFill>
            <a:srgbClr val="FEF9E6"/>
          </a:solidFill>
          <a:ln w="12700">
            <a:solidFill>
              <a:srgbClr val="FEF9E6">
                <a:alpha val="0"/>
              </a:srgbClr>
            </a:solidFill>
            <a:prstDash val="solid"/>
          </a:ln>
        </p:spPr>
      </p:sp>
      <p:pic>
        <p:nvPicPr>
          <p:cNvPr id="10" name="Image 0" descr="C:/Users/sethb/AppData/Local/Temp/codex-clipboard-c56e53bb-a295-4f62-9789-fac419c30a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4" y="1051560"/>
            <a:ext cx="1984248" cy="15361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D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AFTERCLASS  /  12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738360" y="6473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D9D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 Manila, Philippines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AfterClass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AfterClass — Start Meeting AfterClass</dc:title>
  <dc:subject>AfterClass Product &amp; Partnership Deck</dc:subject>
  <dc:creator>AfterClass</dc:creator>
  <cp:lastModifiedBy>AfterClass</cp:lastModifiedBy>
  <cp:revision>1</cp:revision>
  <dcterms:created xsi:type="dcterms:W3CDTF">2026-07-10T21:35:59Z</dcterms:created>
  <dcterms:modified xsi:type="dcterms:W3CDTF">2026-07-10T21:35:59Z</dcterms:modified>
</cp:coreProperties>
</file>